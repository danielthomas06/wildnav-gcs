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3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410047" y="1097280"/>
            <a:ext cx="1371600" cy="137160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r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8657" y="1405890"/>
            <a:ext cx="754380" cy="7543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2880360"/>
            <a:ext cx="9445752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00B4D8"/>
                </a:solidFill>
                <a:latin typeface="Calibri"/>
              </a:rPr>
              <a:t>ARCHITECTURE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60152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Cloud &amp; 5G telemetry</a:t>
            </a:r>
          </a:p>
          <a:p>
            <a:pPr algn="ctr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and command 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61772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CADCFC"/>
                </a:solidFill>
                <a:latin typeface="Calibri"/>
              </a:rPr>
              <a:t>Extending WildNav ground control beyond WiFi range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6263640"/>
            <a:ext cx="9445752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0" i="0">
                <a:solidFill>
                  <a:srgbClr val="CADCFC"/>
                </a:solidFill>
                <a:latin typeface="Calibri"/>
              </a:rPr>
              <a:t>Prepared for leadership review  — 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Today: ground control only works over WiFi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82880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if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364" y="1953524"/>
            <a:ext cx="317479" cy="317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16736" y="1801368"/>
            <a:ext cx="4992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WiFi-only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2121408"/>
            <a:ext cx="49926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The operator must stay on the same WiFi network as the drone to see telemetry or send any command.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46120"/>
            <a:ext cx="566928" cy="566928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lert_triang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3364" y="3370844"/>
            <a:ext cx="317479" cy="3174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16736" y="3218688"/>
            <a:ext cx="499262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Blind once out of 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6736" y="3538728"/>
            <a:ext cx="499262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Beyond WiFi, the ground team loses live telemetry and has no way to intervene mid-flight.</a:t>
            </a:r>
          </a:p>
        </p:txBody>
      </p:sp>
      <p:sp>
        <p:nvSpPr>
          <p:cNvPr id="12" name="Oval 11"/>
          <p:cNvSpPr/>
          <p:nvPr/>
        </p:nvSpPr>
        <p:spPr>
          <a:xfrm>
            <a:off x="8001000" y="2240280"/>
            <a:ext cx="2834640" cy="2834640"/>
          </a:xfrm>
          <a:prstGeom prst="ellipse">
            <a:avLst/>
          </a:prstGeom>
          <a:noFill/>
          <a:ln w="19050">
            <a:solidFill>
              <a:srgbClr val="1E276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029700" y="3268980"/>
            <a:ext cx="777240" cy="77724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dro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00693" y="3439973"/>
            <a:ext cx="435254" cy="43525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138160" y="5184648"/>
            <a:ext cx="2560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5A6B87"/>
                </a:solidFill>
                <a:latin typeface="Calibri"/>
              </a:rPr>
              <a:t>WiFi range</a:t>
            </a:r>
          </a:p>
        </p:txBody>
      </p:sp>
      <p:sp>
        <p:nvSpPr>
          <p:cNvPr id="16" name="Oval 15"/>
          <p:cNvSpPr/>
          <p:nvPr/>
        </p:nvSpPr>
        <p:spPr>
          <a:xfrm>
            <a:off x="10218420" y="5189220"/>
            <a:ext cx="685800" cy="685800"/>
          </a:xfrm>
          <a:prstGeom prst="ellipse">
            <a:avLst/>
          </a:prstGeom>
          <a:solidFill>
            <a:srgbClr val="B03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296" y="5340096"/>
            <a:ext cx="384048" cy="38404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9326880" y="5989320"/>
            <a:ext cx="2468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0" i="0">
                <a:solidFill>
                  <a:srgbClr val="5A6B87"/>
                </a:solidFill>
                <a:latin typeface="Calibri"/>
              </a:rPr>
              <a:t>Ground team — no link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WildNav — Cloud &amp; 5G Relay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Add a 5G cloud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i="0">
                <a:solidFill>
                  <a:srgbClr val="5A6B87"/>
                </a:solidFill>
                <a:latin typeface="Calibri"/>
              </a:rPr>
              <a:t>Monitor and control the drone from anywhere — not just on WiFi</a:t>
            </a:r>
          </a:p>
        </p:txBody>
      </p:sp>
      <p:sp>
        <p:nvSpPr>
          <p:cNvPr id="5" name="Oval 4"/>
          <p:cNvSpPr/>
          <p:nvPr/>
        </p:nvSpPr>
        <p:spPr>
          <a:xfrm>
            <a:off x="571500" y="258318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r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2794406"/>
            <a:ext cx="537667" cy="53766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" y="36804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Drone (Jetson)</a:t>
            </a:r>
          </a:p>
        </p:txBody>
      </p:sp>
      <p:sp>
        <p:nvSpPr>
          <p:cNvPr id="8" name="Oval 7"/>
          <p:cNvSpPr/>
          <p:nvPr/>
        </p:nvSpPr>
        <p:spPr>
          <a:xfrm>
            <a:off x="3934358" y="258318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nten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5584" y="2794406"/>
            <a:ext cx="537667" cy="53766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408578" y="36804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5G network</a:t>
            </a:r>
          </a:p>
        </p:txBody>
      </p:sp>
      <p:sp>
        <p:nvSpPr>
          <p:cNvPr id="11" name="Oval 10"/>
          <p:cNvSpPr/>
          <p:nvPr/>
        </p:nvSpPr>
        <p:spPr>
          <a:xfrm>
            <a:off x="7297216" y="258318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8442" y="2794406"/>
            <a:ext cx="537667" cy="53766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771436" y="36804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Cloud (MQTT)</a:t>
            </a:r>
          </a:p>
        </p:txBody>
      </p:sp>
      <p:sp>
        <p:nvSpPr>
          <p:cNvPr id="14" name="Oval 13"/>
          <p:cNvSpPr/>
          <p:nvPr/>
        </p:nvSpPr>
        <p:spPr>
          <a:xfrm>
            <a:off x="10660074" y="2583180"/>
            <a:ext cx="960120" cy="9601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71300" y="2794406"/>
            <a:ext cx="537667" cy="53766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134294" y="3680460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Dashboard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41348.0" y="3063240"/>
            <a:ext cx="2183282.0" cy="0"/>
          </a:xfrm>
          <a:prstGeom prst="line">
            <a:avLst/>
          </a:prstGeom>
          <a:ln w="38100">
            <a:solidFill>
              <a:srgbClr val="00B4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Isosceles Triangle 17"/>
          <p:cNvSpPr/>
          <p:nvPr/>
        </p:nvSpPr>
        <p:spPr>
          <a:xfrm rot="5400000">
            <a:off x="3765194" y="3003804"/>
            <a:ext cx="118872" cy="118872"/>
          </a:xfrm>
          <a:prstGeom prst="triangl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" name="Connector 18"/>
          <p:cNvCxnSpPr/>
          <p:nvPr/>
        </p:nvCxnSpPr>
        <p:spPr>
          <a:xfrm>
            <a:off x="5004206.0" y="3063240"/>
            <a:ext cx="2183282.0" cy="0"/>
          </a:xfrm>
          <a:prstGeom prst="line">
            <a:avLst/>
          </a:prstGeom>
          <a:ln w="38100">
            <a:solidFill>
              <a:srgbClr val="00B4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Isosceles Triangle 19"/>
          <p:cNvSpPr/>
          <p:nvPr/>
        </p:nvSpPr>
        <p:spPr>
          <a:xfrm rot="5400000">
            <a:off x="7128052" y="3003804"/>
            <a:ext cx="118872" cy="118872"/>
          </a:xfrm>
          <a:prstGeom prst="triangl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8367064.0" y="3063240"/>
            <a:ext cx="2183282.0" cy="0"/>
          </a:xfrm>
          <a:prstGeom prst="line">
            <a:avLst/>
          </a:prstGeom>
          <a:ln w="38100">
            <a:solidFill>
              <a:srgbClr val="00B4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Isosceles Triangle 21"/>
          <p:cNvSpPr/>
          <p:nvPr/>
        </p:nvSpPr>
        <p:spPr>
          <a:xfrm rot="5400000">
            <a:off x="10490910" y="3003804"/>
            <a:ext cx="118872" cy="118872"/>
          </a:xfrm>
          <a:prstGeom prst="triangl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51560" y="489204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0" i="1">
                <a:solidFill>
                  <a:srgbClr val="5A6B87"/>
                </a:solidFill>
                <a:latin typeface="Calibri"/>
              </a:rPr>
              <a:t>Commands (STOP / LOITER / RTL) travel the same path in reverse.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WildNav — Cloud &amp; 5G Relay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What this unlocks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373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04" y="1862084"/>
            <a:ext cx="317479" cy="317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8176" y="1709928"/>
            <a:ext cx="43525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Live telemetry, anywhere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029968"/>
            <a:ext cx="43525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Position, battery, and mission status visible from any internet connection, not just local WiFi.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173736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rows_exchan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9804" y="1862084"/>
            <a:ext cx="317479" cy="3174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23176" y="1709928"/>
            <a:ext cx="43525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Remote command &amp;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2029968"/>
            <a:ext cx="43525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Issue STOP, LOITER, or RTL commands mid-flight — not monitoring-only.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3977639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hield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04" y="4102363"/>
            <a:ext cx="317479" cy="3174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08176" y="3950207"/>
            <a:ext cx="43525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Safety-first by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4270247"/>
            <a:ext cx="43525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The aircraft's own failsafes stay independent and active underneath this link at all times.</a:t>
            </a:r>
          </a:p>
        </p:txBody>
      </p:sp>
      <p:sp>
        <p:nvSpPr>
          <p:cNvPr id="16" name="Oval 15"/>
          <p:cNvSpPr/>
          <p:nvPr/>
        </p:nvSpPr>
        <p:spPr>
          <a:xfrm>
            <a:off x="6355080" y="3977639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coi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9804" y="4102363"/>
            <a:ext cx="317479" cy="31747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7123176" y="3950207"/>
            <a:ext cx="435254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Near-zero added cost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23176" y="4270247"/>
            <a:ext cx="435254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Cloud messaging fits inside a free-tier budget at the current fleet size.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WildNav — Cloud &amp; 5G Relay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By the numbers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453563" cy="2377440"/>
          </a:xfrm>
          <a:prstGeom prst="roundRect">
            <a:avLst>
              <a:gd name="adj" fmla="val 5500"/>
            </a:avLst>
          </a:prstGeom>
          <a:solidFill>
            <a:srgbClr val="ECF0FA"/>
          </a:solidFill>
          <a:ln w="9525">
            <a:solidFill>
              <a:srgbClr val="DD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260604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E2761"/>
                </a:solidFill>
                <a:latin typeface="Cambria"/>
              </a:rPr>
              <a:t>$0/mo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19963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cloud messaging cost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at 1-3 drones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9403" y="2103120"/>
            <a:ext cx="2453563" cy="2377440"/>
          </a:xfrm>
          <a:prstGeom prst="roundRect">
            <a:avLst>
              <a:gd name="adj" fmla="val 5500"/>
            </a:avLst>
          </a:prstGeom>
          <a:solidFill>
            <a:srgbClr val="ECF0FA"/>
          </a:solidFill>
          <a:ln w="9525">
            <a:solidFill>
              <a:srgbClr val="DD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59403" y="260604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E2761"/>
                </a:solidFill>
                <a:latin typeface="Cambria"/>
              </a:rPr>
              <a:t>&lt;300ms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88003" y="3520440"/>
            <a:ext cx="19963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typical command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round-trip over 5G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6" y="2103120"/>
            <a:ext cx="2453563" cy="2377440"/>
          </a:xfrm>
          <a:prstGeom prst="roundRect">
            <a:avLst>
              <a:gd name="adj" fmla="val 5500"/>
            </a:avLst>
          </a:prstGeom>
          <a:solidFill>
            <a:srgbClr val="ECF0FA"/>
          </a:solidFill>
          <a:ln w="9525">
            <a:solidFill>
              <a:srgbClr val="DD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78726" y="260604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E2761"/>
                </a:solidFill>
                <a:latin typeface="Cambria"/>
              </a:rPr>
              <a:t>1-3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07326" y="3520440"/>
            <a:ext cx="19963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drones supported at the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current design tier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98049" y="2103120"/>
            <a:ext cx="2453563" cy="2377440"/>
          </a:xfrm>
          <a:prstGeom prst="roundRect">
            <a:avLst>
              <a:gd name="adj" fmla="val 5500"/>
            </a:avLst>
          </a:prstGeom>
          <a:solidFill>
            <a:srgbClr val="ECF0FA"/>
          </a:solidFill>
          <a:ln w="9525">
            <a:solidFill>
              <a:srgbClr val="DD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049" y="2606040"/>
            <a:ext cx="24535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1E2761"/>
                </a:solidFill>
                <a:latin typeface="Cambria"/>
              </a:rPr>
              <a:t>24/7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649" y="3520440"/>
            <a:ext cx="1996363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continuous live</a:t>
            </a:r>
          </a:p>
          <a:p>
            <a:pPr algn="ctr">
              <a:lnSpc>
                <a:spcPct val="115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monitoring capability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WildNav — Cloud &amp; 5G Relay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Why it matters for WildNav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nten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04" y="1907804"/>
            <a:ext cx="317479" cy="317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8176" y="1755648"/>
            <a:ext cx="9747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Unlocks BVLOS-style operation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075688"/>
            <a:ext cx="9747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Missions can run beyond WiFi range — critical for remote or wilderness deployments.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04" y="3325124"/>
            <a:ext cx="317479" cy="3174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08176" y="3172968"/>
            <a:ext cx="9747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Scales without new hardware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3493008"/>
            <a:ext cx="9747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The same cloud path supports a growing fleet; only the broker tier changes.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61772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04" y="4742444"/>
            <a:ext cx="317479" cy="3174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08176" y="4590288"/>
            <a:ext cx="9747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Built to extend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4910328"/>
            <a:ext cx="9747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Historical playback, larger fleets, and richer telemetry can layer on top of this foundation later.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WildNav — Cloud &amp; 5G Relay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501487" y="1691640"/>
            <a:ext cx="1188720" cy="1188720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er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8949" y="1959102"/>
            <a:ext cx="653796" cy="65379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71600" y="3200400"/>
            <a:ext cx="94457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i="0">
                <a:solidFill>
                  <a:srgbClr val="FFFFFF"/>
                </a:solidFill>
                <a:latin typeface="Cambria"/>
              </a:rPr>
              <a:t>Technical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4069080"/>
            <a:ext cx="944575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 i="0">
                <a:solidFill>
                  <a:srgbClr val="CADCFC"/>
                </a:solidFill>
                <a:latin typeface="Calibri"/>
              </a:rPr>
              <a:t>How the system is built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Data flow: device to cloud to dashboard, and back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965960"/>
            <a:ext cx="2396413" cy="1371600"/>
          </a:xfrm>
          <a:prstGeom prst="roundRect">
            <a:avLst>
              <a:gd name="adj" fmla="val 5500"/>
            </a:avLst>
          </a:prstGeom>
          <a:solidFill>
            <a:srgbClr val="ECF0FA"/>
          </a:solidFill>
          <a:ln w="9525">
            <a:solidFill>
              <a:srgbClr val="DD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463382" y="2157984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r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8107" y="2282708"/>
            <a:ext cx="317479" cy="31747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8368" y="2834640"/>
            <a:ext cx="21769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2761"/>
                </a:solidFill>
                <a:latin typeface="Calibri"/>
              </a:rPr>
              <a:t>Jetson (drone)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099816"/>
            <a:ext cx="21769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87"/>
                </a:solidFill>
                <a:latin typeface="Calibri"/>
              </a:rPr>
              <a:t>publishes over 5G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47973" y="1965960"/>
            <a:ext cx="2396413" cy="1371600"/>
          </a:xfrm>
          <a:prstGeom prst="roundRect">
            <a:avLst>
              <a:gd name="adj" fmla="val 5500"/>
            </a:avLst>
          </a:prstGeom>
          <a:solidFill>
            <a:srgbClr val="ECF0FA"/>
          </a:solidFill>
          <a:ln w="9525">
            <a:solidFill>
              <a:srgbClr val="DD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362715" y="2157984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anten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7440" y="2282708"/>
            <a:ext cx="317479" cy="3174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557701" y="2834640"/>
            <a:ext cx="21769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2761"/>
                </a:solidFill>
                <a:latin typeface="Calibri"/>
              </a:rPr>
              <a:t>5G / cellular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57701" y="3099816"/>
            <a:ext cx="21769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87"/>
                </a:solidFill>
                <a:latin typeface="Calibri"/>
              </a:rPr>
              <a:t>outbound-only, NAT'd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47306" y="1965960"/>
            <a:ext cx="2396413" cy="1371600"/>
          </a:xfrm>
          <a:prstGeom prst="roundRect">
            <a:avLst>
              <a:gd name="adj" fmla="val 5500"/>
            </a:avLst>
          </a:prstGeom>
          <a:solidFill>
            <a:srgbClr val="ECF0FA"/>
          </a:solidFill>
          <a:ln w="9525">
            <a:solidFill>
              <a:srgbClr val="DD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262048" y="2157984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lou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86773" y="2282708"/>
            <a:ext cx="317479" cy="31747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457034" y="2834640"/>
            <a:ext cx="21769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2761"/>
                </a:solidFill>
                <a:latin typeface="Calibri"/>
              </a:rPr>
              <a:t>MQTT broker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7034" y="3099816"/>
            <a:ext cx="21769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87"/>
                </a:solidFill>
                <a:latin typeface="Calibri"/>
              </a:rPr>
              <a:t>HiveMQ Cloud / AWS IoT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46639" y="1965960"/>
            <a:ext cx="2396413" cy="1371600"/>
          </a:xfrm>
          <a:prstGeom prst="roundRect">
            <a:avLst>
              <a:gd name="adj" fmla="val 5500"/>
            </a:avLst>
          </a:prstGeom>
          <a:solidFill>
            <a:srgbClr val="ECF0FA"/>
          </a:solidFill>
          <a:ln w="9525">
            <a:solidFill>
              <a:srgbClr val="DD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161381" y="2157984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6106" y="2282708"/>
            <a:ext cx="317479" cy="3174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356367" y="2834640"/>
            <a:ext cx="21769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50" b="1" i="0">
                <a:solidFill>
                  <a:srgbClr val="1E2761"/>
                </a:solidFill>
                <a:latin typeface="Calibri"/>
              </a:rPr>
              <a:t>Ground dashboard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56367" y="3099816"/>
            <a:ext cx="2176957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 i="0">
                <a:solidFill>
                  <a:srgbClr val="5A6B87"/>
                </a:solidFill>
                <a:latin typeface="Calibri"/>
              </a:rPr>
              <a:t>browser via MQTT-WS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999917" y="2505456.0"/>
            <a:ext cx="393192" cy="0.0"/>
          </a:xfrm>
          <a:prstGeom prst="line">
            <a:avLst/>
          </a:prstGeom>
          <a:ln w="31750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Isosceles Triangle 24"/>
          <p:cNvSpPr/>
          <p:nvPr/>
        </p:nvSpPr>
        <p:spPr>
          <a:xfrm rot="5400000">
            <a:off x="3342817" y="2455164"/>
            <a:ext cx="100584" cy="10058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H="1">
            <a:off x="2999917" y="2834640.0"/>
            <a:ext cx="393192" cy="0.0"/>
          </a:xfrm>
          <a:prstGeom prst="line">
            <a:avLst/>
          </a:prstGeom>
          <a:ln w="31750">
            <a:solidFill>
              <a:srgbClr val="00B4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Isosceles Triangle 26"/>
          <p:cNvSpPr/>
          <p:nvPr/>
        </p:nvSpPr>
        <p:spPr>
          <a:xfrm rot="16200000">
            <a:off x="2949625" y="2784348"/>
            <a:ext cx="100584" cy="100584"/>
          </a:xfrm>
          <a:prstGeom prst="triangl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8" name="Connector 27"/>
          <p:cNvCxnSpPr/>
          <p:nvPr/>
        </p:nvCxnSpPr>
        <p:spPr>
          <a:xfrm>
            <a:off x="5899250" y="2505456.0"/>
            <a:ext cx="393192" cy="0.0"/>
          </a:xfrm>
          <a:prstGeom prst="line">
            <a:avLst/>
          </a:prstGeom>
          <a:ln w="31750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/>
          <p:cNvSpPr/>
          <p:nvPr/>
        </p:nvSpPr>
        <p:spPr>
          <a:xfrm rot="5400000">
            <a:off x="6242150" y="2455164"/>
            <a:ext cx="100584" cy="10058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 flipH="1">
            <a:off x="5899250" y="2834640.0"/>
            <a:ext cx="393192" cy="0.0"/>
          </a:xfrm>
          <a:prstGeom prst="line">
            <a:avLst/>
          </a:prstGeom>
          <a:ln w="31750">
            <a:solidFill>
              <a:srgbClr val="00B4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Isosceles Triangle 30"/>
          <p:cNvSpPr/>
          <p:nvPr/>
        </p:nvSpPr>
        <p:spPr>
          <a:xfrm rot="16200000">
            <a:off x="5848958" y="2784348"/>
            <a:ext cx="100584" cy="100584"/>
          </a:xfrm>
          <a:prstGeom prst="triangl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8798583" y="2505456.0"/>
            <a:ext cx="393192" cy="0.0"/>
          </a:xfrm>
          <a:prstGeom prst="line">
            <a:avLst/>
          </a:prstGeom>
          <a:ln w="31750">
            <a:solidFill>
              <a:srgbClr val="1E276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Isosceles Triangle 32"/>
          <p:cNvSpPr/>
          <p:nvPr/>
        </p:nvSpPr>
        <p:spPr>
          <a:xfrm rot="5400000">
            <a:off x="9141483" y="2455164"/>
            <a:ext cx="100584" cy="100584"/>
          </a:xfrm>
          <a:prstGeom prst="triangl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>
            <a:off x="8798583" y="2834640.0"/>
            <a:ext cx="393192" cy="0.0"/>
          </a:xfrm>
          <a:prstGeom prst="line">
            <a:avLst/>
          </a:prstGeom>
          <a:ln w="31750">
            <a:solidFill>
              <a:srgbClr val="00B4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Isosceles Triangle 34"/>
          <p:cNvSpPr/>
          <p:nvPr/>
        </p:nvSpPr>
        <p:spPr>
          <a:xfrm rot="16200000">
            <a:off x="8748291" y="2784348"/>
            <a:ext cx="100584" cy="100584"/>
          </a:xfrm>
          <a:prstGeom prst="triangl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1581912"/>
            <a:ext cx="7189239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1E2761"/>
                </a:solidFill>
                <a:latin typeface="Calibri"/>
              </a:rPr>
              <a:t>→ telemetry, status, heartbeat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48640" y="3977639"/>
            <a:ext cx="11094415" cy="137160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D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8680" y="41605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■ Navy — telemetry &amp; heartbeat (drone → cloud → dashboard)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" y="452628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00B4D8"/>
                </a:solidFill>
                <a:latin typeface="Calibri"/>
              </a:rPr>
              <a:t>■ Cyan — commands: STOP / LOITER / RTL (dashboard → cloud → drone), confirmed by an ack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8680" y="4892040"/>
            <a:ext cx="10424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 i="0">
                <a:solidFill>
                  <a:srgbClr val="5A6B87"/>
                </a:solidFill>
                <a:latin typeface="Calibri"/>
              </a:rPr>
              <a:t>The 5G modem is outbound-only (carrier NAT) — nothing can dial into the drone, so every message is a push through the broker, in both directions.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WildNav — Cloud &amp; 5G Relay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How the link is built: MQTT over TLS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04" y="1907804"/>
            <a:ext cx="317479" cy="317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8176" y="1755648"/>
            <a:ext cx="9747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TLS 8883, authenticated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075688"/>
            <a:ext cx="9747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Every connection is encrypted; each drone has its own certificate-based identity.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er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04" y="3325124"/>
            <a:ext cx="317479" cy="3174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08176" y="3172968"/>
            <a:ext cx="9747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One topic set per drone, per purpose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3493008"/>
            <a:ext cx="9747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wildnav/&lt;id&gt;/telemetry, /status, /cmd, /cmd_ack — each drone can only touch its own topics.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61772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efres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04" y="4742444"/>
            <a:ext cx="317479" cy="3174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08176" y="4590288"/>
            <a:ext cx="9747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At-least-once delivery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4910328"/>
            <a:ext cx="9747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QoS1 with persistent sessions — a dropped connection replays queued messages instead of losing them.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WildNav — Cloud &amp; 5G Relay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Commands are confirmed, not just sent</a:t>
            </a:r>
          </a:p>
        </p:txBody>
      </p:sp>
      <p:sp>
        <p:nvSpPr>
          <p:cNvPr id="4" name="Oval 3"/>
          <p:cNvSpPr/>
          <p:nvPr/>
        </p:nvSpPr>
        <p:spPr>
          <a:xfrm>
            <a:off x="731520" y="187452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075688"/>
            <a:ext cx="512064" cy="5120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" y="29260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Operator sends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STOP / LOITER / RTL</a:t>
            </a:r>
          </a:p>
        </p:txBody>
      </p:sp>
      <p:sp>
        <p:nvSpPr>
          <p:cNvPr id="7" name="Oval 6"/>
          <p:cNvSpPr/>
          <p:nvPr/>
        </p:nvSpPr>
        <p:spPr>
          <a:xfrm>
            <a:off x="5638647" y="187452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dro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15" y="2075688"/>
            <a:ext cx="512064" cy="51206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998567" y="29260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Drone receives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&amp; executes</a:t>
            </a:r>
          </a:p>
        </p:txBody>
      </p:sp>
      <p:sp>
        <p:nvSpPr>
          <p:cNvPr id="10" name="Oval 9"/>
          <p:cNvSpPr/>
          <p:nvPr/>
        </p:nvSpPr>
        <p:spPr>
          <a:xfrm>
            <a:off x="10545774" y="1874520"/>
            <a:ext cx="914400" cy="91440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ircl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46942" y="2075688"/>
            <a:ext cx="512064" cy="51206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905694" y="2926080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Drone sends an ack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E2761"/>
                </a:solidFill>
                <a:latin typeface="Calibri"/>
              </a:rPr>
              <a:t>back to the dashboard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755648.0" y="2331720"/>
            <a:ext cx="3773271.0" cy="0"/>
          </a:xfrm>
          <a:prstGeom prst="line">
            <a:avLst/>
          </a:prstGeom>
          <a:ln w="38100">
            <a:solidFill>
              <a:srgbClr val="00B4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Isosceles Triangle 13"/>
          <p:cNvSpPr/>
          <p:nvPr/>
        </p:nvSpPr>
        <p:spPr>
          <a:xfrm rot="5400000">
            <a:off x="5469483" y="2272284"/>
            <a:ext cx="118872" cy="118872"/>
          </a:xfrm>
          <a:prstGeom prst="triangl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6662775.0" y="2331720"/>
            <a:ext cx="3773271.0" cy="0"/>
          </a:xfrm>
          <a:prstGeom prst="line">
            <a:avLst/>
          </a:prstGeom>
          <a:ln w="38100">
            <a:solidFill>
              <a:srgbClr val="00B4D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10376610" y="2272284"/>
            <a:ext cx="118872" cy="118872"/>
          </a:xfrm>
          <a:prstGeom prst="triangl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188720" y="4297680"/>
            <a:ext cx="9811512" cy="1371600"/>
          </a:xfrm>
          <a:prstGeom prst="roundRect">
            <a:avLst>
              <a:gd name="adj" fmla="val 5500"/>
            </a:avLst>
          </a:prstGeom>
          <a:solidFill>
            <a:srgbClr val="ECF0FA"/>
          </a:solidFill>
          <a:ln w="9525">
            <a:solidFill>
              <a:srgbClr val="DD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554480" y="452628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1E2761"/>
                </a:solidFill>
                <a:latin typeface="Calibri"/>
              </a:rPr>
              <a:t>No acknowledgment within ~3 seconds → the dashboard flags the command as unconfirmed.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937760"/>
            <a:ext cx="9144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5A6B87"/>
                </a:solidFill>
                <a:latin typeface="Calibri"/>
              </a:rPr>
              <a:t>STOP, LOITER, and RTL are always honored even if delayed — the worst case is a redundant safe action, never a harmful one.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WildNav — Cloud &amp; 5G Relay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Designed for a link that will drop out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ata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804" y="1907804"/>
            <a:ext cx="317479" cy="317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08176" y="1755648"/>
            <a:ext cx="9747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Local backlog buffer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8176" y="2075688"/>
            <a:ext cx="9747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The Jetson buffers telemetry locally and replays it after a reconnect, capped by age.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20040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fre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4804" y="3325124"/>
            <a:ext cx="317479" cy="3174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408176" y="3172968"/>
            <a:ext cx="9747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Automatic reconnect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8176" y="3493008"/>
            <a:ext cx="9747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Exponential backoff avoids hammering the network or draining battery on a bad connection.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617720"/>
            <a:ext cx="566928" cy="566928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lert_triang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804" y="4742444"/>
            <a:ext cx="317479" cy="31747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408176" y="4590288"/>
            <a:ext cx="9747504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Flight continues regardless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08176" y="4910328"/>
            <a:ext cx="9747504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If the cloud link drops, the mission already loaded on the drone continues; the aircraft's own failsafes remain active underneath.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WildNav — Cloud &amp; 5G Relay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Defense in depth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920240"/>
            <a:ext cx="3393338" cy="3108960"/>
          </a:xfrm>
          <a:prstGeom prst="roundRect">
            <a:avLst>
              <a:gd name="adj" fmla="val 5500"/>
            </a:avLst>
          </a:prstGeom>
          <a:solidFill>
            <a:srgbClr val="ECF0FA"/>
          </a:solidFill>
          <a:ln w="9525">
            <a:solidFill>
              <a:srgbClr val="DD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970989" y="224028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1923" y="2401214"/>
            <a:ext cx="409651" cy="4096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14400" y="3200400"/>
            <a:ext cx="28446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Per-drone certificates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886200"/>
            <a:ext cx="275325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No shared credentials — each aircraft authenticates independently.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99178" y="1920240"/>
            <a:ext cx="3393338" cy="3108960"/>
          </a:xfrm>
          <a:prstGeom prst="roundRect">
            <a:avLst>
              <a:gd name="adj" fmla="val 5500"/>
            </a:avLst>
          </a:prstGeom>
          <a:solidFill>
            <a:srgbClr val="ECF0FA"/>
          </a:solidFill>
          <a:ln w="9525">
            <a:solidFill>
              <a:srgbClr val="DD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30087" y="224028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shield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1021" y="2401214"/>
            <a:ext cx="409651" cy="409651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673498" y="3200400"/>
            <a:ext cx="28446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Scoped permissions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19218" y="3886200"/>
            <a:ext cx="275325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Broker rules restrict each drone to its own topics — one compromised device can't see or command another.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58276" y="1920240"/>
            <a:ext cx="3393338" cy="3108960"/>
          </a:xfrm>
          <a:prstGeom prst="roundRect">
            <a:avLst>
              <a:gd name="adj" fmla="val 5500"/>
            </a:avLst>
          </a:prstGeom>
          <a:solidFill>
            <a:srgbClr val="ECF0FA"/>
          </a:solidFill>
          <a:ln w="9525">
            <a:solidFill>
              <a:srgbClr val="DD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489185" y="2240280"/>
            <a:ext cx="731520" cy="731520"/>
          </a:xfrm>
          <a:prstGeom prst="ellipse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circle_che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0119" y="2401214"/>
            <a:ext cx="409651" cy="409651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432596" y="3200400"/>
            <a:ext cx="284469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Command signing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78316" y="3886200"/>
            <a:ext cx="2753258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 i="0">
                <a:solidFill>
                  <a:srgbClr val="5A6B87"/>
                </a:solidFill>
                <a:latin typeface="Calibri"/>
              </a:rPr>
              <a:t>Planned hardening: an application-level signature on commands, independent of broker auth.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WildNav — Cloud &amp; 5G Relay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1E2761"/>
                </a:solidFill>
                <a:latin typeface="Cambria"/>
              </a:rPr>
              <a:t>Broker choice is a config value, not a redesign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828800"/>
          <a:ext cx="10543032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06240"/>
                <a:gridCol w="3840480"/>
                <a:gridCol w="2496312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Broker</a:t>
                      </a:r>
                    </a:p>
                  </a:txBody>
                  <a:tcPr marL="137160" marR="91440" marT="73152" marB="7315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Billing model</a:t>
                      </a:r>
                    </a:p>
                  </a:txBody>
                  <a:tcPr marL="137160" marR="91440" marT="73152" marB="73152"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Est. cost at 1-3 drones</a:t>
                      </a:r>
                    </a:p>
                  </a:txBody>
                  <a:tcPr marL="137160" marR="91440" marT="73152" marB="73152" anchor="ctr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761"/>
                          </a:solidFill>
                          <a:latin typeface="Calibri"/>
                        </a:rPr>
                        <a:t>HiveMQ Cloud (free tier)</a:t>
                      </a:r>
                    </a:p>
                  </a:txBody>
                  <a:tcPr marL="137160" marR="9144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761"/>
                          </a:solidFill>
                          <a:latin typeface="Calibri"/>
                        </a:rPr>
                        <a:t>Connections + traffic</a:t>
                      </a:r>
                    </a:p>
                  </a:txBody>
                  <a:tcPr marL="137160" marR="9144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761"/>
                          </a:solidFill>
                          <a:latin typeface="Calibri"/>
                        </a:rPr>
                        <a:t>$0 / month</a:t>
                      </a:r>
                    </a:p>
                  </a:txBody>
                  <a:tcPr marL="137160" marR="91440" marT="73152" marB="73152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761"/>
                          </a:solidFill>
                          <a:latin typeface="Calibri"/>
                        </a:rPr>
                        <a:t>EMQX Cloud Serverless</a:t>
                      </a:r>
                    </a:p>
                  </a:txBody>
                  <a:tcPr marL="137160" marR="91440" marT="73152" marB="73152" anchor="ctr"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761"/>
                          </a:solidFill>
                          <a:latin typeface="Calibri"/>
                        </a:rPr>
                        <a:t>Session-minutes + traffic</a:t>
                      </a:r>
                    </a:p>
                  </a:txBody>
                  <a:tcPr marL="137160" marR="91440" marT="73152" marB="73152" anchor="ctr">
                    <a:solidFill>
                      <a:srgbClr val="ECF0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761"/>
                          </a:solidFill>
                          <a:latin typeface="Calibri"/>
                        </a:rPr>
                        <a:t>$0 / month</a:t>
                      </a:r>
                    </a:p>
                  </a:txBody>
                  <a:tcPr marL="137160" marR="91440" marT="73152" marB="73152" anchor="ctr">
                    <a:solidFill>
                      <a:srgbClr val="ECF0F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761"/>
                          </a:solidFill>
                          <a:latin typeface="Calibri"/>
                        </a:rPr>
                        <a:t>AWS IoT Core</a:t>
                      </a:r>
                    </a:p>
                  </a:txBody>
                  <a:tcPr marL="137160" marR="9144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761"/>
                          </a:solidFill>
                          <a:latin typeface="Calibri"/>
                        </a:rPr>
                        <a:t>Per-message + connectivity</a:t>
                      </a:r>
                    </a:p>
                  </a:txBody>
                  <a:tcPr marL="137160" marR="91440" marT="73152" marB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E2761"/>
                          </a:solidFill>
                          <a:latin typeface="Calibri"/>
                        </a:rPr>
                        <a:t>~$8–$16 / month</a:t>
                      </a:r>
                    </a:p>
                  </a:txBody>
                  <a:tcPr marL="137160" marR="91440" marT="73152" marB="7315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160520"/>
            <a:ext cx="1054303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5A6B87"/>
                </a:solidFill>
                <a:latin typeface="Calibri"/>
              </a:rPr>
              <a:t>Default: HiveMQ Cloud free tier. AWS IoT Core is supported when native AWS integration (IAM, Timestream, fleet-management tools) outweighs the added per-message cost — the relay code only needs an endpoint and credentials to switch.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528816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WildNav — Cloud &amp; 5G Relay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521440" y="6528816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 i="0">
                <a:solidFill>
                  <a:srgbClr val="5A6B8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FFFFFF"/>
                </a:solidFill>
                <a:latin typeface="Cambria"/>
              </a:rPr>
              <a:t>Next steps</a:t>
            </a:r>
          </a:p>
        </p:txBody>
      </p:sp>
      <p:sp>
        <p:nvSpPr>
          <p:cNvPr id="4" name="Oval 3"/>
          <p:cNvSpPr/>
          <p:nvPr/>
        </p:nvSpPr>
        <p:spPr>
          <a:xfrm>
            <a:off x="996696" y="1828800"/>
            <a:ext cx="566928" cy="5669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ircl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20" y="1953524"/>
            <a:ext cx="317479" cy="317479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874519" y="1828800"/>
            <a:ext cx="8686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1.  Build cloud_relay.py on the Jetson</a:t>
            </a:r>
          </a:p>
        </p:txBody>
      </p:sp>
      <p:sp>
        <p:nvSpPr>
          <p:cNvPr id="7" name="Oval 6"/>
          <p:cNvSpPr/>
          <p:nvPr/>
        </p:nvSpPr>
        <p:spPr>
          <a:xfrm>
            <a:off x="996696" y="2788920"/>
            <a:ext cx="566928" cy="5669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ircl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20" y="2913644"/>
            <a:ext cx="317479" cy="31747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74519" y="2788920"/>
            <a:ext cx="8686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2.  Provision the broker and per-drone credentials</a:t>
            </a:r>
          </a:p>
        </p:txBody>
      </p:sp>
      <p:sp>
        <p:nvSpPr>
          <p:cNvPr id="10" name="Oval 9"/>
          <p:cNvSpPr/>
          <p:nvPr/>
        </p:nvSpPr>
        <p:spPr>
          <a:xfrm>
            <a:off x="996696" y="3749040"/>
            <a:ext cx="566928" cy="5669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circle_che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1420" y="3873764"/>
            <a:ext cx="317479" cy="3174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874519" y="3749040"/>
            <a:ext cx="8686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3.  Integrate MQTT-over-WebSocket into the dashboard</a:t>
            </a:r>
          </a:p>
        </p:txBody>
      </p:sp>
      <p:sp>
        <p:nvSpPr>
          <p:cNvPr id="13" name="Oval 12"/>
          <p:cNvSpPr/>
          <p:nvPr/>
        </p:nvSpPr>
        <p:spPr>
          <a:xfrm>
            <a:off x="996696" y="4709160"/>
            <a:ext cx="566928" cy="566928"/>
          </a:xfrm>
          <a:prstGeom prst="ellipse">
            <a:avLst/>
          </a:prstGeom>
          <a:solidFill>
            <a:srgbClr val="00B4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roc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1420" y="4833884"/>
            <a:ext cx="317479" cy="3174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4709160"/>
            <a:ext cx="8686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4.  Field test over real 5G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1">
                <a:solidFill>
                  <a:srgbClr val="CADCFC"/>
                </a:solidFill>
                <a:latin typeface="Calibri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